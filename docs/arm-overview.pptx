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95728"/>
            <a:ext cx="73152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D9488"/>
                </a:solidFill>
                <a:latin typeface="Arial"/>
              </a:rPr>
              <a:t>ARM  ·  AGENT 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Govern AI. Enable every job.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E2E8F0"/>
                </a:solidFill>
                <a:latin typeface="Arial"/>
              </a:rPr>
              <a:t>One platform that lets management govern AI usage per employee &amp; job function —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2E8F0"/>
                </a:solidFill>
                <a:latin typeface="Arial"/>
              </a:rPr>
              <a:t>and lets every employee, from shop floor to executive, start a fully-configured agent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2E8F0"/>
                </a:solidFill>
                <a:latin typeface="Arial"/>
              </a:rPr>
              <a:t>in under 5 minutes. Zero config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10332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Arial"/>
              </a:rPr>
              <a:t>Spec v0.5  ·  D9 Work Packages plan (2026-08-13)  ·  7 executable guardrails green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Arial"/>
              </a:rPr>
              <a:t>Control plane + per-tenant data plane  ·  ~250 OEM job types researched  ·  10 pilot work packages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6035040"/>
            <a:ext cx="237744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00" b="1">
                <a:solidFill>
                  <a:srgbClr val="0D9488"/>
                </a:solidFill>
                <a:latin typeface="Arial"/>
              </a:rPr>
              <a:t>GOVERN —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6035040"/>
            <a:ext cx="237744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00" b="1">
                <a:solidFill>
                  <a:srgbClr val="D97706"/>
                </a:solidFill>
                <a:latin typeface="Arial"/>
              </a:rPr>
              <a:t>ENABLE — employees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6035040"/>
            <a:ext cx="310896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100" b="1">
                <a:solidFill>
                  <a:srgbClr val="2563EB"/>
                </a:solidFill>
                <a:latin typeface="Arial"/>
              </a:rPr>
              <a:t>MOAT — $ per work product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9488"/>
                </a:solidFill>
                <a:latin typeface="Arial"/>
              </a:rPr>
              <a:t>WHY ARM</a:t>
            </a:r>
          </a:p>
          <a:p>
            <a:r>
              <a:rPr sz="2500" b="1">
                <a:solidFill>
                  <a:srgbClr val="0F172A"/>
                </a:solidFill>
                <a:latin typeface="Arial"/>
              </a:rPr>
              <a:t>The problem: AI agents land inside companies before governance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02920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6118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0D9488"/>
                </a:solidFill>
                <a:latin typeface="Arial"/>
              </a:rPr>
              <a:t>AI sprawl, ungoverned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•  Agents + copilots appear per employee, per tool, per shadow-IT experiment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•  No central view: who uses what model, what data, at what cost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•  Budgets and policies live in spreadsheets — unenforced in practice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1417320"/>
            <a:ext cx="36118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D97706"/>
                </a:solidFill>
                <a:latin typeface="Arial"/>
              </a:rPr>
              <a:t>No per-role enablement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•  Every employee hand-edits config files for MCP servers, skills, permissions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•  Non-technical staff (operators, planners, managers) get left behind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•  Company knowledge of tools/templates is never packaged or reused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3" y="1417320"/>
            <a:ext cx="36118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>
              <a:spcAft>
                <a:spcPts val="600"/>
              </a:spcAft>
            </a:pPr>
            <a:r>
              <a:rPr b="1" sz="1500">
                <a:solidFill>
                  <a:srgbClr val="2563EB"/>
                </a:solidFill>
                <a:latin typeface="Arial"/>
              </a:rPr>
              <a:t>No cost-per-work visibility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•  Token invoices answer 'how much', never 'what did we produce'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•  No way to compare $ per 8D report, PPAP, PLC routine across teams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•  Savings techniques exist but nobody wires them into one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ARM's answer — two promises, one surface: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Arial"/>
              </a:rPr>
              <a:t>Management sees and controls every AI usage (who, what model, what tools, what data, what it cost, per work product).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Arial"/>
              </a:rPr>
              <a:t>Employees get a working agent for their job in minutes — pre-installed opencode with MCPs, skills, sub-agents, permissions. Zero config.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9488"/>
                </a:solidFill>
                <a:latin typeface="Arial"/>
              </a:rPr>
              <a:t>WHAT ARM IS</a:t>
            </a:r>
          </a:p>
          <a:p>
            <a:r>
              <a:rPr sz="2500" b="1">
                <a:solidFill>
                  <a:srgbClr val="0F172A"/>
                </a:solidFill>
                <a:latin typeface="Arial"/>
              </a:rPr>
              <a:t>Hybrid architecture: SaaS control plane + data plane in your VPC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02920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0F172A"/>
                </a:solidFill>
                <a:latin typeface="Arial"/>
              </a:rPr>
              <a:t>Control plane is metadata + audit only — prompt bodies and resource content never leave the tenant VPC (Invariant #1).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5394960" cy="3566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400">
                <a:solidFill>
                  <a:srgbClr val="2563EB"/>
                </a:solidFill>
                <a:latin typeface="Arial"/>
              </a:rPr>
              <a:t>CONTROL PLANE (ARM SaaS / self-hosted)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•  Org tree, roles, agents, stakeholders, budgets, LLM policy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•  Tool Registry + Work Package catalog (publish, approve, version)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•  Approval inbox, deny-override policy, plain-language policy editor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•  Dashboards: usage, $/work-product, savings ledger, benchmarks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•  Delegate-key brokerage + provider billing reconciliation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48840"/>
            <a:ext cx="5394960" cy="3566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400">
                <a:solidFill>
                  <a:srgbClr val="059669"/>
                </a:solidFill>
                <a:latin typeface="Arial"/>
              </a:rPr>
              <a:t>DATA PLANE (customer VPC)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•  Closed-proxy (OpenAI/Anthropic wire) + open-gateway (vLLM)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•  Tool gate + classification gate — policy enforced per call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•  Priority-aware quotas, budget enforcement, model auto-downgrade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•  Connectors (mint/proxy/sync) for S3, GCS, DBs, SharePoint…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•  Meter-agent: token events → ClickHouse over mTLS (metadata only)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Arial"/>
              </a:rPr>
              <a:t>Non-negotiables (spec §11, guardrail-enforced): higher-level deny wins · one agent = one accountable human · short-lived credentials · priority is policy, not self-declared · ClickHouse partitioned by (tenant, month).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9488"/>
                </a:solidFill>
                <a:latin typeface="Arial"/>
              </a:rPr>
              <a:t>SYSTEM ARCHITECTURE</a:t>
            </a:r>
          </a:p>
          <a:p>
            <a:r>
              <a:rPr sz="2500" b="1">
                <a:solidFill>
                  <a:srgbClr val="0F172A"/>
                </a:solidFill>
                <a:latin typeface="Arial"/>
              </a:rPr>
              <a:t>One flow, from employee agent to management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02920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rial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2860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20116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06"/>
                </a:solidFill>
                <a:latin typeface="Arial"/>
              </a:rPr>
              <a:t>CLIENT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  <a:latin typeface="Arial"/>
              </a:rPr>
              <a:t>arm_client.exe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Arial"/>
              </a:rPr>
              <a:t>Desktop · CLI · MDM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Arial"/>
              </a:rPr>
              <a:t>opencode pre-installed: MCPs, skills, sub-agents, permissions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71800" y="2194560"/>
            <a:ext cx="320040" cy="256032"/>
          </a:xfrm>
          <a:prstGeom prst="rightArrow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234440"/>
            <a:ext cx="4937760" cy="2286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371600"/>
            <a:ext cx="46634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59669"/>
                </a:solidFill>
                <a:latin typeface="Arial"/>
              </a:rPr>
              <a:t>DATA PLANE — in your VPC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1E293B"/>
                </a:solidFill>
                <a:latin typeface="Arial"/>
              </a:rPr>
              <a:t>Closed-proxy / Open-gateway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E293B"/>
                </a:solidFill>
                <a:latin typeface="Arial"/>
              </a:rPr>
              <a:t>Tool gate · classification gate · quotas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E293B"/>
                </a:solidFill>
                <a:latin typeface="Arial"/>
              </a:rPr>
              <a:t>Policy cache (pull, versioned)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E293B"/>
                </a:solidFill>
                <a:latin typeface="Arial"/>
              </a:rPr>
              <a:t>Connectors: S3 · GCS · DB · SharePoint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E293B"/>
                </a:solidFill>
                <a:latin typeface="Arial"/>
              </a:rPr>
              <a:t>Meter-agent → ClickHouse (metadata only)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03920" y="2194560"/>
            <a:ext cx="320040" cy="256032"/>
          </a:xfrm>
          <a:prstGeom prst="rightArrow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0" y="1463040"/>
            <a:ext cx="2697480" cy="1828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600200"/>
            <a:ext cx="24688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  <a:latin typeface="Arial"/>
              </a:rPr>
              <a:t>CONTROL PLANE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  <a:latin typeface="Arial"/>
              </a:rPr>
              <a:t>Work Packages · Tool Registry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E293B"/>
                </a:solidFill>
                <a:latin typeface="Arial"/>
              </a:rPr>
              <a:t>Budgets · Approvals · Policy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E293B"/>
                </a:solidFill>
                <a:latin typeface="Arial"/>
              </a:rPr>
              <a:t>Dashboards (management)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749039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75569"/>
                </a:solidFill>
                <a:latin typeface="Arial"/>
              </a:rPr>
              <a:t>LLM providers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Arial"/>
              </a:rPr>
              <a:t>Claude/GPT via delegate keys  ·  self-hosted open models (vLLM)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49039"/>
            <a:ext cx="2651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C2626"/>
                </a:solidFill>
                <a:latin typeface="Arial"/>
              </a:rPr>
              <a:t>Invariant #1 boundary: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Arial"/>
              </a:rPr>
              <a:t>prompt bodies &amp; resource content stay in the tenant VPC — only metadata + audit cross to the control plane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3749039"/>
            <a:ext cx="2697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75569"/>
                </a:solidFill>
                <a:latin typeface="Arial"/>
              </a:rPr>
              <a:t>Management sees: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Arial"/>
              </a:rPr>
              <a:t>aggregates only — never prompts, content, or secrets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1208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Per-call path: client → proxy → gate checks (model allowlist → DLP/classification → work-type → tool gate → quota) → route → metered event → dashboards.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Arial"/>
              </a:rPr>
              <a:t>Enforcement never blocks on the control plane: policy is pulled to a local cache (10 s TTL, versioned, fail-closed on staleness).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9488"/>
                </a:solidFill>
                <a:latin typeface="Arial"/>
              </a:rPr>
              <a:t>THE CORE CONCEPT (D9)</a:t>
            </a:r>
          </a:p>
          <a:p>
            <a:r>
              <a:rPr sz="2500" b="1">
                <a:solidFill>
                  <a:srgbClr val="0F172A"/>
                </a:solidFill>
                <a:latin typeface="Arial"/>
              </a:rPr>
              <a:t>Work Package — the unit where governance and ease-of-use meet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02920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0F172A"/>
                </a:solidFill>
                <a:latin typeface="Arial"/>
              </a:rPr>
              <a:t>A versioned, role-scoped bundle of everything an employee's agent needs to do their job — materialized from industry presets, copy-on-provisioning.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36118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300">
                <a:solidFill>
                  <a:srgbClr val="0D9488"/>
                </a:solidFill>
                <a:latin typeface="Arial"/>
              </a:rPr>
              <a:t>Tools (MCP)</a:t>
            </a:r>
          </a:p>
          <a:p>
            <a:r>
              <a:rPr sz="1050">
                <a:solidFill>
                  <a:srgbClr val="1E293B"/>
                </a:solidFill>
                <a:latin typeface="Arial"/>
              </a:rPr>
              <a:t>pinned versions, scoped auth, per-tool authorization (tool:invoke)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2148840"/>
            <a:ext cx="36118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300">
                <a:solidFill>
                  <a:srgbClr val="2563EB"/>
                </a:solidFill>
                <a:latin typeface="Arial"/>
              </a:rPr>
              <a:t>Skills &amp; sub-agents</a:t>
            </a:r>
          </a:p>
          <a:p>
            <a:r>
              <a:rPr sz="1050">
                <a:solidFill>
                  <a:srgbClr val="1E293B"/>
                </a:solidFill>
                <a:latin typeface="Arial"/>
              </a:rPr>
              <a:t>job-specific agent skills + sub-agent configs, pre-installed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2148840"/>
            <a:ext cx="36118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300">
                <a:solidFill>
                  <a:srgbClr val="059669"/>
                </a:solidFill>
                <a:latin typeface="Arial"/>
              </a:rPr>
              <a:t>Permissions</a:t>
            </a:r>
          </a:p>
          <a:p>
            <a:r>
              <a:rPr sz="1050">
                <a:solidFill>
                  <a:srgbClr val="1E293B"/>
                </a:solidFill>
                <a:latin typeface="Arial"/>
              </a:rPr>
              <a:t>D8 role presets + tool grants; higher-level deny always wins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74720"/>
            <a:ext cx="36118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300">
                <a:solidFill>
                  <a:srgbClr val="D97706"/>
                </a:solidFill>
                <a:latin typeface="Arial"/>
              </a:rPr>
              <a:t>Routing + budget</a:t>
            </a:r>
          </a:p>
          <a:p>
            <a:r>
              <a:rPr sz="1050">
                <a:solidFill>
                  <a:srgbClr val="1E293B"/>
                </a:solidFill>
                <a:latin typeface="Arial"/>
              </a:rPr>
              <a:t>model routing policy, per-package budget template, tier ladder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3474720"/>
            <a:ext cx="36118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300">
                <a:solidFill>
                  <a:srgbClr val="DC2626"/>
                </a:solidFill>
                <a:latin typeface="Arial"/>
              </a:rPr>
              <a:t>Starter prompts</a:t>
            </a:r>
          </a:p>
          <a:p>
            <a:r>
              <a:rPr sz="1050">
                <a:solidFill>
                  <a:srgbClr val="1E293B"/>
                </a:solidFill>
                <a:latin typeface="Arial"/>
              </a:rPr>
              <a:t>5–10 tappable cards per role: 'Draft an 8D for a seal leak'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3474720"/>
            <a:ext cx="36118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300">
                <a:solidFill>
                  <a:srgbClr val="0F172A"/>
                </a:solidFill>
                <a:latin typeface="Arial"/>
              </a:rPr>
              <a:t>Templates</a:t>
            </a:r>
          </a:p>
          <a:p>
            <a:r>
              <a:rPr sz="1050">
                <a:solidFill>
                  <a:srgbClr val="1E293B"/>
                </a:solidFill>
                <a:latin typeface="Arial"/>
              </a:rPr>
              <a:t>8D/PPAP/audit/report generators + standards libraries (ISO/IATF)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Arial"/>
              </a:rPr>
              <a:t>Rules that keep packages safe: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93B"/>
                </a:solidFill>
                <a:latin typeface="Arial"/>
              </a:rPr>
              <a:t>Presets set defaults, never gate capabilities (D6)  ·  edits never mutate installed packages (D7 lock)  ·  integrity-hashed, signed manifests re-checked at every agent start  ·  least-privilege + deny-override guardrails, mutation-proofed.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93B"/>
                </a:solidFill>
                <a:latin typeface="Arial"/>
              </a:rPr>
              <a:t>Two modes:  copilot (employee-adjacent, human approves)  ·  automated (scope-owned agent, policy + budget enforced).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9488"/>
                </a:solidFill>
                <a:latin typeface="Arial"/>
              </a:rPr>
              <a:t>CLIENT SIDE</a:t>
            </a:r>
          </a:p>
          <a:p>
            <a:r>
              <a:rPr sz="2500" b="1">
                <a:solidFill>
                  <a:srgbClr val="0F172A"/>
                </a:solidFill>
                <a:latin typeface="Arial"/>
              </a:rPr>
              <a:t>One engine, three artifacts — the arm_client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02920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Built on packages/client-core: SSO, runtime ensure, package apply, connections wizard, integrity checks, self-update.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106424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450">
                <a:solidFill>
                  <a:srgbClr val="D97706"/>
                </a:solidFill>
                <a:latin typeface="Arial"/>
              </a:rPr>
              <a:t>ARM Desktop   </a:t>
            </a:r>
            <a:r>
              <a:rPr sz="1150" b="1">
                <a:solidFill>
                  <a:srgbClr val="475569"/>
                </a:solidFill>
                <a:latin typeface="Arial"/>
              </a:rPr>
              <a:t>arm_client.exe / .app / .deb</a:t>
            </a:r>
          </a:p>
          <a:p>
            <a:r>
              <a:rPr sz="1150">
                <a:solidFill>
                  <a:srgbClr val="1E293B"/>
                </a:solidFill>
                <a:latin typeface="Arial"/>
              </a:rPr>
              <a:t>The default for every non-technical employee. GUI wizard — no terminal, no config files. Tray status: budget meter + approvals.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1106424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450">
                <a:solidFill>
                  <a:srgbClr val="0D9488"/>
                </a:solidFill>
                <a:latin typeface="Arial"/>
              </a:rPr>
              <a:t>arm CLI   </a:t>
            </a:r>
            <a:r>
              <a:rPr sz="1150" b="1">
                <a:solidFill>
                  <a:srgbClr val="475569"/>
                </a:solidFill>
                <a:latin typeface="Arial"/>
              </a:rPr>
              <a:t>arm setup · arm package …</a:t>
            </a:r>
          </a:p>
          <a:p>
            <a:r>
              <a:rPr sz="1150">
                <a:solidFill>
                  <a:srgbClr val="1E293B"/>
                </a:solidFill>
                <a:latin typeface="Arial"/>
              </a:rPr>
              <a:t>Same engine, headless. For power users, CI pipelines, and automated-agent fleets.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97680"/>
            <a:ext cx="1106424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450">
                <a:solidFill>
                  <a:srgbClr val="2563EB"/>
                </a:solidFill>
                <a:latin typeface="Arial"/>
              </a:rPr>
              <a:t>MDM packages   </a:t>
            </a:r>
            <a:r>
              <a:rPr sz="1150" b="1">
                <a:solidFill>
                  <a:srgbClr val="475569"/>
                </a:solidFill>
                <a:latin typeface="Arial"/>
              </a:rPr>
              <a:t>Intune MSI · Jamf pkg · winget · brew</a:t>
            </a:r>
          </a:p>
          <a:p>
            <a:r>
              <a:rPr sz="1150">
                <a:solidFill>
                  <a:srgbClr val="1E293B"/>
                </a:solidFill>
                <a:latin typeface="Arial"/>
              </a:rPr>
              <a:t>Org-wide silent rollout by IT. First launch = SSO + role picker only. Bypasses SmartScreen prompts.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Arial"/>
              </a:rPr>
              <a:t>Code-signed + notarized from first beta (EV cert, Apple notarization)  ·  signed self-update channel  ·  thin client: flows, guides and policy are server-driven.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9488"/>
                </a:solidFill>
                <a:latin typeface="Arial"/>
              </a:rPr>
              <a:t>EMPLOYEE EXPERIENCE</a:t>
            </a:r>
          </a:p>
          <a:p>
            <a:r>
              <a:rPr sz="2500" b="1">
                <a:solidFill>
                  <a:srgbClr val="0F172A"/>
                </a:solidFill>
                <a:latin typeface="Arial"/>
              </a:rPr>
              <a:t>First run: from nothing to a working, metered agent in &lt; 5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02920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rial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178308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500">
                <a:solidFill>
                  <a:srgbClr val="0D9488"/>
                </a:solidFill>
                <a:latin typeface="Arial"/>
              </a:rPr>
              <a:t>1 · SSO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Arial"/>
              </a:rPr>
              <a:t>Browser sign-in, one click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13432" y="2743200"/>
            <a:ext cx="182880" cy="274320"/>
          </a:xfrm>
          <a:prstGeom prst="rightArrow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41448" y="2103120"/>
            <a:ext cx="178308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500">
                <a:solidFill>
                  <a:srgbClr val="0D9488"/>
                </a:solidFill>
                <a:latin typeface="Arial"/>
              </a:rPr>
              <a:t>2 · Role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Arial"/>
              </a:rPr>
              <a:t>Only packages they're approved for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51960" y="2743200"/>
            <a:ext cx="182880" cy="274320"/>
          </a:xfrm>
          <a:prstGeom prst="rightArrow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9976" y="2103120"/>
            <a:ext cx="178308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500">
                <a:solidFill>
                  <a:srgbClr val="0D9488"/>
                </a:solidFill>
                <a:latin typeface="Arial"/>
              </a:rPr>
              <a:t>3 · Runtime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Arial"/>
              </a:rPr>
              <a:t>opencode auto-installed (version-pinned)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190488" y="2743200"/>
            <a:ext cx="182880" cy="274320"/>
          </a:xfrm>
          <a:prstGeom prst="rightArrow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18504" y="2103120"/>
            <a:ext cx="178308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500">
                <a:solidFill>
                  <a:srgbClr val="0D9488"/>
                </a:solidFill>
                <a:latin typeface="Arial"/>
              </a:rPr>
              <a:t>4 · Package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Arial"/>
              </a:rPr>
              <a:t>MCPs · skills · sub-agents · permissions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129016" y="2743200"/>
            <a:ext cx="182880" cy="274320"/>
          </a:xfrm>
          <a:prstGeom prst="rightArrow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57032" y="2103120"/>
            <a:ext cx="178308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500">
                <a:solidFill>
                  <a:srgbClr val="0D9488"/>
                </a:solidFill>
                <a:latin typeface="Arial"/>
              </a:rPr>
              <a:t>5 · Connections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Arial"/>
              </a:rPr>
              <a:t>OAuth one-click or guided PAT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067544" y="2743200"/>
            <a:ext cx="182880" cy="274320"/>
          </a:xfrm>
          <a:prstGeom prst="rightArrow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95560" y="2103120"/>
            <a:ext cx="178308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500">
                <a:solidFill>
                  <a:srgbClr val="0D9488"/>
                </a:solidFill>
                <a:latin typeface="Arial"/>
              </a:rPr>
              <a:t>6 · Verified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Arial"/>
              </a:rPr>
              <a:t>Metered call → dashboard shows online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Zero decisions. Zero config files.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Arial"/>
              </a:rPr>
              <a:t>Config is generated server-side from the signed package manifest; the employee never sees YAML/JSON. Failure modes are auto-detected with plain-language fixes.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59669"/>
                </a:solidFill>
                <a:latin typeface="Arial"/>
              </a:rPr>
              <a:t>End state:  'Online. Dept budget remaining: $X. Tools connected: M/N. Starter tasks ready.'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Arial"/>
              </a:rPr>
              <a:t>Every persona starts in beginner mode — operators get voice/scan-first checklists; executives get dashboards only; power users unlock config progressively.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9488"/>
                </a:solidFill>
                <a:latin typeface="Arial"/>
              </a:rPr>
              <a:t>CLIENT SIDE · CONNECTIONS WIZARD</a:t>
            </a:r>
          </a:p>
          <a:p>
            <a:r>
              <a:rPr sz="2500" b="1">
                <a:solidFill>
                  <a:srgbClr val="0F172A"/>
                </a:solidFill>
                <a:latin typeface="Arial"/>
              </a:rPr>
              <a:t>Third-party tokens (Jira, GitHub, AWS, GCP/BigQuery) without pain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02920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86400" cy="24688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400">
                <a:solidFill>
                  <a:srgbClr val="059669"/>
                </a:solidFill>
                <a:latin typeface="Arial"/>
              </a:rPr>
              <a:t>TIER A — one-click OAuth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•  Jira/Atlassian · GitHub · Google (incl. BigQuery) · Microsoft 365/SharePoint · AWS IAM Identity Center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•  “Connect” → browser authorize → ARM connector mints a short-lived, least-scope token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•  No copy-paste, ever. Rotation and expiry handled by the credential health center.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394960" cy="246888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400">
                <a:solidFill>
                  <a:srgbClr val="D97706"/>
                </a:solidFill>
                <a:latin typeface="Arial"/>
              </a:rPr>
              <a:t>TIER B — guided PAT / service-account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•  Jira PAT · GitHub PAT · GCP service-account keys · legacy systems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•  Server-pushed, versioned step-by-step guides: exact vendor-console clicks, scope presets pre-filled, paste-back with validation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  <a:latin typeface="Arial"/>
              </a:rPr>
              <a:t>•  Guides update without client releases — vendor UIs change, our guides don't freeze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Security, non-negotiable: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Arial"/>
              </a:rPr>
              <a:t>Secrets never land in agent config files — OS keychain or tenant-vault broker (Invariants #4–5: short-lived everywhere; ARM-issued OIDC where federated, sealed tenant vault where not).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Arial"/>
              </a:rPr>
              <a:t>Skip-later allowed: the package installs fully; unconnected tools show 'not connected' until the wizard is completed.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9488"/>
                </a:solidFill>
                <a:latin typeface="Arial"/>
              </a:rPr>
              <a:t>SERVER SIDE · DATA PLANE</a:t>
            </a:r>
          </a:p>
          <a:p>
            <a:r>
              <a:rPr sz="2500" b="1">
                <a:solidFill>
                  <a:srgbClr val="0F172A"/>
                </a:solidFill>
                <a:latin typeface="Arial"/>
              </a:rPr>
              <a:t>In your VPC: enforce, meter, protect — metadata only to the 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02920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Every LLM call passes the same enforcement ladder; prompt bodies never leave the VPC (Invariant #1).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65960"/>
          <a:ext cx="676655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977639"/>
                <a:gridCol w="868680"/>
              </a:tblGrid>
              <a:tr h="50945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Gate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it enforces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Failure mode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Model allowlist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Scope + package allowed_models; auto-downgrade to open models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fail-closed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Classification gate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confidential+ context never routes to closed external models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fail-closed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Work-type gate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D7 per-prompt label → routing/budget rules (Phase 1.4+)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fail-closed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Tool gate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tool:invoke authorization + data classification per tool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fail-closed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Quota / tier ladder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Per-package + priority budgets; critical reserve; 429 throttle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fail-closed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Metering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token events (work_type, package, cache hits) → ClickHouse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fail-open (buffered)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965960"/>
            <a:ext cx="4023360" cy="3566160"/>
          </a:xfrm>
          <a:prstGeom prst="roundRect">
            <a:avLst/>
          </a:prstGeom>
          <a:solidFill>
            <a:srgbClr val="ECFDF5"/>
          </a:solidFill>
          <a:ln w="1778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103120"/>
            <a:ext cx="3749039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59669"/>
                </a:solidFill>
                <a:latin typeface="Arial"/>
              </a:rPr>
              <a:t>Open-gateway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E293B"/>
                </a:solidFill>
                <a:latin typeface="Arial"/>
              </a:rPr>
              <a:t>Self-hosted vLLM fleet (GLM / DeepSeek / Kimi) behind an OpenAI-compat shim with native metering — the 60–95% cost lever for routine work.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059669"/>
                </a:solidFill>
                <a:latin typeface="Arial"/>
              </a:rPr>
              <a:t>Policy cache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E293B"/>
                </a:solidFill>
                <a:latin typeface="Arial"/>
              </a:rPr>
              <a:t>10 s TTL pull + monotonic policy_version; DENY ≤ 15 s staleness SLA; unreachable control plane → fail-closed for quota/deny, fail-open only for event emission.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Arial"/>
              </a:rPr>
              <a:t>Performance budget: p50 &lt; 25 ms added latency, p99 &lt; 100 ms, ≥ 500 RPS/node — classification runs zero-LLM (structural → hash-cache → fastText → centroid).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9488"/>
                </a:solidFill>
                <a:latin typeface="Arial"/>
              </a:rPr>
              <a:t>MANAGEMENT USAGE</a:t>
            </a:r>
          </a:p>
          <a:p>
            <a:r>
              <a:rPr sz="2500" b="1">
                <a:solidFill>
                  <a:srgbClr val="0F172A"/>
                </a:solidFill>
                <a:latin typeface="Arial"/>
              </a:rPr>
              <a:t>Govern the fleet from one dashboard — no code required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02920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rial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611880" cy="14630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350">
                <a:solidFill>
                  <a:srgbClr val="2563EB"/>
                </a:solidFill>
                <a:latin typeface="Arial"/>
              </a:rPr>
              <a:t>Usage cockpit</a:t>
            </a:r>
          </a:p>
          <a:p>
            <a:r>
              <a:rPr sz="1050">
                <a:solidFill>
                  <a:srgbClr val="1E293B"/>
                </a:solidFill>
                <a:latin typeface="Arial"/>
              </a:rPr>
              <a:t>Org-tree explorer: cost, tokens, work-types per department, plant, team — realtime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1463040"/>
            <a:ext cx="3611880" cy="14630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350">
                <a:solidFill>
                  <a:srgbClr val="0D9488"/>
                </a:solidFill>
                <a:latin typeface="Arial"/>
              </a:rPr>
              <a:t>Budgets &amp; policy</a:t>
            </a:r>
          </a:p>
          <a:p>
            <a:r>
              <a:rPr sz="1050">
                <a:solidFill>
                  <a:srgbClr val="1E293B"/>
                </a:solidFill>
                <a:latin typeface="Arial"/>
              </a:rPr>
              <a:t>Per-package / per-work-type budgets, reservations, auto-downgrade; plain-language policy editor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3" y="1463040"/>
            <a:ext cx="3611880" cy="14630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350">
                <a:solidFill>
                  <a:srgbClr val="059669"/>
                </a:solidFill>
                <a:latin typeface="Arial"/>
              </a:rPr>
              <a:t>Approvals inbox</a:t>
            </a:r>
          </a:p>
          <a:p>
            <a:r>
              <a:rPr sz="1050">
                <a:solidFill>
                  <a:srgbClr val="1E293B"/>
                </a:solidFill>
                <a:latin typeface="Arial"/>
              </a:rPr>
              <a:t>One-tap approve/deny: tool requests, budget bumps, tier elevation, JIT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54680"/>
            <a:ext cx="3611880" cy="14630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350">
                <a:solidFill>
                  <a:srgbClr val="D97706"/>
                </a:solidFill>
                <a:latin typeface="Arial"/>
              </a:rPr>
              <a:t>$/work-product</a:t>
            </a:r>
          </a:p>
          <a:p>
            <a:r>
              <a:rPr sz="1050">
                <a:solidFill>
                  <a:srgbClr val="1E293B"/>
                </a:solidFill>
                <a:latin typeface="Arial"/>
              </a:rPr>
              <a:t>Cost per finished 8D, PPAP, PLC routine — with rework-rate counterweight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3154680"/>
            <a:ext cx="3611880" cy="14630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350">
                <a:solidFill>
                  <a:srgbClr val="DC2626"/>
                </a:solidFill>
                <a:latin typeface="Arial"/>
              </a:rPr>
              <a:t>Savings ledger</a:t>
            </a:r>
          </a:p>
          <a:p>
            <a:r>
              <a:rPr sz="1050">
                <a:solidFill>
                  <a:srgbClr val="1E293B"/>
                </a:solidFill>
                <a:latin typeface="Arial"/>
              </a:rPr>
              <a:t>Causally-attributed: cache hits, routed-down calls, loop caps — auditor-ready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3154680"/>
            <a:ext cx="3611880" cy="14630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350">
                <a:solidFill>
                  <a:srgbClr val="0F172A"/>
                </a:solidFill>
                <a:latin typeface="Arial"/>
              </a:rPr>
              <a:t>Benchmarks</a:t>
            </a:r>
          </a:p>
          <a:p>
            <a:r>
              <a:rPr sz="1050">
                <a:solidFill>
                  <a:srgbClr val="1E293B"/>
                </a:solidFill>
                <a:latin typeface="Arial"/>
              </a:rPr>
              <a:t>Cross-tenant anonymized cohort medians per industry profile (aggregates only)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Management mode is read-only joy: executives get dashboards + one-tap approvals, never configuration. Every governance action emits an audit event.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Arial"/>
              </a:rPr>
              <a:t>Higher-level deny always wins · every agent has one accountable human · tier elevation requires scope-admin approval.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9488"/>
                </a:solidFill>
                <a:latin typeface="Arial"/>
              </a:rPr>
              <a:t>GOVERNANCE MODEL</a:t>
            </a:r>
          </a:p>
          <a:p>
            <a:r>
              <a:rPr sz="2500" b="1">
                <a:solidFill>
                  <a:srgbClr val="0F172A"/>
                </a:solidFill>
                <a:latin typeface="Arial"/>
              </a:rPr>
              <a:t>Invariants as executable guardrails — not prose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02920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9/9 guardrails green in CI, each mutation-proofed: break the protected thing → guard goes red → restore byte-identically.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697480" cy="1051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250">
                <a:solidFill>
                  <a:srgbClr val="0D9488"/>
                </a:solidFill>
                <a:latin typeface="Arial"/>
              </a:rPr>
              <a:t>#1 Data residency</a:t>
            </a:r>
          </a:p>
          <a:p>
            <a:r>
              <a:rPr sz="1000">
                <a:solidFill>
                  <a:srgbClr val="1E293B"/>
                </a:solidFill>
                <a:latin typeface="Arial"/>
              </a:rPr>
              <a:t>Prompt bodies + resource content never leave the tenant VPC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2011680"/>
            <a:ext cx="2697480" cy="1051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250">
                <a:solidFill>
                  <a:srgbClr val="2563EB"/>
                </a:solidFill>
                <a:latin typeface="Arial"/>
              </a:rPr>
              <a:t>#2 One agent, two IDs</a:t>
            </a:r>
          </a:p>
          <a:p>
            <a:r>
              <a:rPr sz="1000">
                <a:solidFill>
                  <a:srgbClr val="1E293B"/>
                </a:solidFill>
                <a:latin typeface="Arial"/>
              </a:rPr>
              <a:t>sub_account_id ↔ agent_id, linked 1:1 on every event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011680"/>
            <a:ext cx="2697480" cy="1051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250">
                <a:solidFill>
                  <a:srgbClr val="DC2626"/>
                </a:solidFill>
                <a:latin typeface="Arial"/>
              </a:rPr>
              <a:t>#3 Deny wins</a:t>
            </a:r>
          </a:p>
          <a:p>
            <a:r>
              <a:rPr sz="1000">
                <a:solidFill>
                  <a:srgbClr val="1E293B"/>
                </a:solidFill>
                <a:latin typeface="Arial"/>
              </a:rPr>
              <a:t>Higher-level deny always wins in grant resolution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7696" y="2011680"/>
            <a:ext cx="2697480" cy="1051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250">
                <a:solidFill>
                  <a:srgbClr val="059669"/>
                </a:solidFill>
                <a:latin typeface="Arial"/>
              </a:rPr>
              <a:t>#4 Short-lived creds</a:t>
            </a:r>
          </a:p>
          <a:p>
            <a:r>
              <a:rPr sz="1000">
                <a:solidFill>
                  <a:srgbClr val="1E293B"/>
                </a:solidFill>
                <a:latin typeface="Arial"/>
              </a:rPr>
              <a:t>Everywhere credentials are minted — fast revocation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2697480" cy="1051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250">
                <a:solidFill>
                  <a:srgbClr val="D97706"/>
                </a:solidFill>
                <a:latin typeface="Arial"/>
              </a:rPr>
              <a:t>#5 Hybrid IdP</a:t>
            </a:r>
          </a:p>
          <a:p>
            <a:r>
              <a:rPr sz="1000">
                <a:solidFill>
                  <a:srgbClr val="1E293B"/>
                </a:solidFill>
                <a:latin typeface="Arial"/>
              </a:rPr>
              <a:t>ARM-issued OIDC where federated; sealed tenant vault where not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3291840"/>
            <a:ext cx="2697480" cy="1051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250">
                <a:solidFill>
                  <a:srgbClr val="0F172A"/>
                </a:solidFill>
                <a:latin typeface="Arial"/>
              </a:rPr>
              <a:t>#6 Partitioning</a:t>
            </a:r>
          </a:p>
          <a:p>
            <a:r>
              <a:rPr sz="1000">
                <a:solidFill>
                  <a:srgbClr val="1E293B"/>
                </a:solidFill>
                <a:latin typeface="Arial"/>
              </a:rPr>
              <a:t>ClickHouse partitioned by (tenant_id, month) from day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291840"/>
            <a:ext cx="2697480" cy="1051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250">
                <a:solidFill>
                  <a:srgbClr val="0D9488"/>
                </a:solidFill>
                <a:latin typeface="Arial"/>
              </a:rPr>
              <a:t>#7 Accountable human</a:t>
            </a:r>
          </a:p>
          <a:p>
            <a:r>
              <a:rPr sz="1000">
                <a:solidFill>
                  <a:srgbClr val="1E293B"/>
                </a:solidFill>
                <a:latin typeface="Arial"/>
              </a:rPr>
              <a:t>Every agent has exactly one stakeholder_user_id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7696" y="3291840"/>
            <a:ext cx="2697480" cy="1051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250">
                <a:solidFill>
                  <a:srgbClr val="2563EB"/>
                </a:solidFill>
                <a:latin typeface="Arial"/>
              </a:rPr>
              <a:t>#8 Priority is policy</a:t>
            </a:r>
          </a:p>
          <a:p>
            <a:r>
              <a:rPr sz="1000">
                <a:solidFill>
                  <a:srgbClr val="1E293B"/>
                </a:solidFill>
                <a:latin typeface="Arial"/>
              </a:rPr>
              <a:t>Elevated tiers need scope-admin approval; audited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7492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Guard quality bar: a guard asserting a negative must fail loudly on empty input — a lint that scans zero files is red, not green.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Arial"/>
              </a:rPr>
              <a:t>Spec travel rule: architecture/data-model changes update docs/arm-spec.md + CONCEPTS.md + guardrails in the same PR.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9488"/>
                </a:solidFill>
                <a:latin typeface="Arial"/>
              </a:rPr>
              <a:t>TOKEN ECONOMICS · THE MOAT</a:t>
            </a:r>
          </a:p>
          <a:p>
            <a:r>
              <a:rPr sz="2500" b="1">
                <a:solidFill>
                  <a:srgbClr val="0F172A"/>
                </a:solidFill>
                <a:latin typeface="Arial"/>
              </a:rPr>
              <a:t>Make the fleet cheap — then prove it per work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02920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0F172A"/>
                </a:solidFill>
                <a:latin typeface="Arial"/>
              </a:rPr>
              <a:t>A well-tuned work package lands 70–85% below naive frontier-per-call spend: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74519"/>
          <a:ext cx="69494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566160"/>
                <a:gridCol w="1005840"/>
              </a:tblGrid>
              <a:tr h="44413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Technique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Where it applies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Savings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Model routing / tiering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Small model for labeling/triage; frontier only for reasoning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70–90%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Open-model fallback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Nightly reports, batch classification, background tier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60–95%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Prompt caching + semantic cache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Standards prefixes; repeated clause lookups (version-keyed)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40–90%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Summarization-first + RAG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500-page standards → hierarchical summaries + cited retrieval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50–95%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Loop caps + tool-call bundling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Runaway agents; one call fetches all historian queries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20–90%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Fine-tuned small models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Defect labeling, 8D section drafting, PPAP forms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Arial"/>
                        </a:rPr>
                        <a:t>90%+ marginal</a:t>
                      </a:r>
                    </a:p>
                  </a:txBody>
                  <a:tcPr marL="54864" marR="54864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26679" y="1874519"/>
            <a:ext cx="39319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D97706"/>
                </a:solidFill>
                <a:latin typeface="Arial"/>
              </a:rPr>
              <a:t>The moat metric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93B"/>
                </a:solidFill>
                <a:latin typeface="Arial"/>
              </a:rPr>
              <a:t>$/8D report · $/PPAP · $/PLC routine — tokens-per-unit and dollars-per-unit in the same table, with a rework-rate counterweight so 'cheapest' never means 'worst'.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D97706"/>
                </a:solidFill>
                <a:latin typeface="Arial"/>
              </a:rPr>
              <a:t>Why it wins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93B"/>
                </a:solidFill>
                <a:latin typeface="Arial"/>
              </a:rPr>
              <a:t>Procurement thinks in COPQ, not tokens. Compliance co-metered (citations, clause-versioned caches). Accumulated config can't be ported — routing, fine-tunes, benchmarks improve with every tenant.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E293B"/>
                </a:solidFill>
                <a:latin typeface="Arial"/>
              </a:rPr>
              <a:t>Savings ledger is causally attributed (event-level), not modeled: cache hits × cache price, routed-down calls × price delta, loop-cap aborts — auditors believe event-level proof.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9488"/>
                </a:solidFill>
                <a:latin typeface="Arial"/>
              </a:rPr>
              <a:t>INDUSTRY DEPTH · AUTOMATED OEM</a:t>
            </a:r>
          </a:p>
          <a:p>
            <a:r>
              <a:rPr sz="2500" b="1">
                <a:solidFill>
                  <a:srgbClr val="0F172A"/>
                </a:solidFill>
                <a:latin typeface="Arial"/>
              </a:rPr>
              <a:t>Research-backed: ~250 job types across 20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02920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Every role researched for daily tasks, tool-package needs, and token profile — the seed content for work packages.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0D9488"/>
                </a:solidFill>
                <a:latin typeface="Arial"/>
              </a:rPr>
              <a:t>Design Studio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828800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0D9488"/>
                </a:solidFill>
                <a:latin typeface="Arial"/>
              </a:rPr>
              <a:t>R&amp;D / Advanced Eng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828800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0D9488"/>
                </a:solidFill>
                <a:latin typeface="Arial"/>
              </a:rPr>
              <a:t>Product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828800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0D9488"/>
                </a:solidFill>
                <a:latin typeface="Arial"/>
              </a:rPr>
              <a:t>CAE / Simulation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1828800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0D9488"/>
                </a:solidFill>
                <a:latin typeface="Arial"/>
              </a:rPr>
              <a:t>Test &amp;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04288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0D9488"/>
                </a:solidFill>
                <a:latin typeface="Arial"/>
              </a:rPr>
              <a:t>Systems / MBSE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304288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0D9488"/>
                </a:solidFill>
                <a:latin typeface="Arial"/>
              </a:rPr>
              <a:t>Prototyping / Tooling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304288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0D9488"/>
                </a:solidFill>
                <a:latin typeface="Arial"/>
              </a:rPr>
              <a:t>CAM / CNC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304288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0D9488"/>
                </a:solidFill>
                <a:latin typeface="Arial"/>
              </a:rPr>
              <a:t>Manufacturing Eng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2304288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0D9488"/>
                </a:solidFill>
                <a:latin typeface="Arial"/>
              </a:rPr>
              <a:t>Production Ops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779776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0D9488"/>
                </a:solidFill>
                <a:latin typeface="Arial"/>
              </a:rPr>
              <a:t>Maintenance &amp; Reliability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2779776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0D9488"/>
                </a:solidFill>
                <a:latin typeface="Arial"/>
              </a:rPr>
              <a:t>Quality Management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2779776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0D9488"/>
                </a:solidFill>
                <a:latin typeface="Arial"/>
              </a:rPr>
              <a:t>Supply Chain &amp; Procurement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779776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0D9488"/>
                </a:solidFill>
                <a:latin typeface="Arial"/>
              </a:rPr>
              <a:t>Logistics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2779776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0D9488"/>
                </a:solidFill>
                <a:latin typeface="Arial"/>
              </a:rPr>
              <a:t>Robotics &amp; Cells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255264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0D9488"/>
                </a:solidFill>
                <a:latin typeface="Arial"/>
              </a:rPr>
              <a:t>Controls (PLC/MES/SCADA)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40" y="3255264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0D9488"/>
                </a:solidFill>
                <a:latin typeface="Arial"/>
              </a:rPr>
              <a:t>IIoT / Edge / OT Security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3255264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0D9488"/>
                </a:solidFill>
                <a:latin typeface="Arial"/>
              </a:rPr>
              <a:t>Data Science / Digital Twin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3255264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0D9488"/>
                </a:solidFill>
                <a:latin typeface="Arial"/>
              </a:rPr>
              <a:t>Sales &amp; Aftermarket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3255264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0D9488"/>
                </a:solidFill>
                <a:latin typeface="Arial"/>
              </a:rPr>
              <a:t>Business 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8862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Arial"/>
              </a:rPr>
              <a:t>Pilot work packages (10):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343400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D97706"/>
                </a:solidFill>
                <a:latin typeface="Arial"/>
              </a:rPr>
              <a:t>quality_engineer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34640" y="4343400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D97706"/>
                </a:solidFill>
                <a:latin typeface="Arial"/>
              </a:rPr>
              <a:t>sqe_supplier_quality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20640" y="4343400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D97706"/>
                </a:solidFill>
                <a:latin typeface="Arial"/>
              </a:rPr>
              <a:t>plc_programmer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4343400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D97706"/>
                </a:solidFill>
                <a:latin typeface="Arial"/>
              </a:rPr>
              <a:t>maintenance_technician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92640" y="4343400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D97706"/>
                </a:solidFill>
                <a:latin typeface="Arial"/>
              </a:rPr>
              <a:t>material_planner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343400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D97706"/>
                </a:solidFill>
                <a:latin typeface="Arial"/>
              </a:rPr>
              <a:t>production_supervisor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34640" y="4343400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D97706"/>
                </a:solidFill>
                <a:latin typeface="Arial"/>
              </a:rPr>
              <a:t>warranty_analyst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20640" y="4343400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D97706"/>
                </a:solidFill>
                <a:latin typeface="Arial"/>
              </a:rPr>
              <a:t>data_analyst_plant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4343400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D97706"/>
                </a:solidFill>
                <a:latin typeface="Arial"/>
              </a:rPr>
              <a:t>office_worker_general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92640" y="4343400"/>
            <a:ext cx="21488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sz="1000" b="1">
                <a:solidFill>
                  <a:srgbClr val="D97706"/>
                </a:solidFill>
                <a:latin typeface="Arial"/>
              </a:rPr>
              <a:t>exec_assistant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48640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E293B"/>
                </a:solidFill>
                <a:latin typeface="Arial"/>
              </a:rPr>
              <a:t>Highest-value plant agent loop: fault-code → root cause → fix → CMMS work order — shared by maintenance, controls and robotics roles.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Arial"/>
              </a:rPr>
              <a:t>Depth roles (safety, legal, CAE, calibration) get long-context routing + standards RAG; volume roles (operators, planners) get tiny deterministic tools on cheap models.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9488"/>
                </a:solidFill>
                <a:latin typeface="Arial"/>
              </a:rPr>
              <a:t>ROADMAP</a:t>
            </a:r>
          </a:p>
          <a:p>
            <a:r>
              <a:rPr sz="2500" b="1">
                <a:solidFill>
                  <a:srgbClr val="0F172A"/>
                </a:solidFill>
                <a:latin typeface="Arial"/>
              </a:rPr>
              <a:t>Phases 1.5 → 1.7: foundation, provisioning, governance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02920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Arial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611880" cy="374903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400">
                <a:solidFill>
                  <a:srgbClr val="0D9488"/>
                </a:solidFill>
                <a:latin typeface="Arial"/>
              </a:rPr>
              <a:t>1.5 · Work-Package foundation</a:t>
            </a:r>
          </a:p>
          <a:p>
            <a:r>
              <a:rPr sz="1100" b="1">
                <a:solidFill>
                  <a:srgbClr val="475569"/>
                </a:solidFill>
                <a:latin typeface="Arial"/>
              </a:rPr>
              <a:t>Weeks 1–4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 Tool Registry + package schema (tool, work_package, package_assignment)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 10 pilot packages seeded from OEM research (Manufacturing + Tech profiles)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 resolveToolAccess + package-aware routing; per-package budgets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 Catalog / Assignments / Governance pages; 4 new guardrails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1554480"/>
            <a:ext cx="3611880" cy="374903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400">
                <a:solidFill>
                  <a:srgbClr val="2563EB"/>
                </a:solidFill>
                <a:latin typeface="Arial"/>
              </a:rPr>
              <a:t>1.6 · One-click provisioning</a:t>
            </a:r>
          </a:p>
          <a:p>
            <a:r>
              <a:rPr sz="1100" b="1">
                <a:solidFill>
                  <a:srgbClr val="475569"/>
                </a:solidFill>
                <a:latin typeface="Arial"/>
              </a:rPr>
              <a:t>Weeks 5–8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 arm_client.exe + CLI + MDM packages (signed, notarized)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 Connections wizard: OAuth one-click + guided PAT flows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 opencode package writer; tool gate + quota enforcement in proxy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 Pilot: 5–10 roles × real employees, unassisted &lt; 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3" y="1554480"/>
            <a:ext cx="3611880" cy="374903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/>
          <a:lstStyle/>
          <a:p>
            <a:pPr algn="ctr"/>
            <a:r>
              <a:rPr b="1" sz="1400">
                <a:solidFill>
                  <a:srgbClr val="059669"/>
                </a:solidFill>
                <a:latin typeface="Arial"/>
              </a:rPr>
              <a:t>1.7 · Governance loop &amp; moat</a:t>
            </a:r>
          </a:p>
          <a:p>
            <a:r>
              <a:rPr sz="1100" b="1">
                <a:solidFill>
                  <a:srgbClr val="475569"/>
                </a:solidFill>
                <a:latin typeface="Arial"/>
              </a:rPr>
              <a:t>Weeks 9–12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 Plain-language policy editor; one-tap approval inbox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 $/work-product dashboards + savings ledger + exec digest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 Cross-tenant anonymized benchmarks; fine-tune pilot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E293B"/>
                </a:solidFill>
                <a:latin typeface="Arial"/>
              </a:rPr>
              <a:t>•  Re-attestation cadence; pilot expansion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321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E293B"/>
                </a:solidFill>
                <a:latin typeface="Arial"/>
              </a:rPr>
              <a:t>Exit gates: 1.5 — publish/approve/assign/budget a package end-to-end in CI · 1.6 — unassisted first metered call &lt; 5 min, zero secrets in config · 1.7 — ≥ 2 pilot tenants × 3 packages, ≥ 80% of traffic package-attributed, one exec decision from $/work-product.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D9488"/>
                </a:solidFill>
                <a:latin typeface="Arial"/>
              </a:rPr>
              <a:t>WHY ARM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Govern + enable in one surface — and the only vendor selling both.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D9488"/>
                </a:solidFill>
                <a:latin typeface="Arial"/>
              </a:rPr>
              <a:t>Management: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see &amp; control every AI usage per job function — budgets, approvals, $/work-product.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93592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D9488"/>
                </a:solidFill>
                <a:latin typeface="Arial"/>
              </a:rPr>
              <a:t>Employees: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a working agent for their job in &lt; 5 minutes. Zero config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9704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D9488"/>
                </a:solidFill>
                <a:latin typeface="Arial"/>
              </a:rPr>
              <a:t>Compliance-shaped savings: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cost AND verifiability co-metered — ISO/IATF-grade trust.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85816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D9488"/>
                </a:solidFill>
                <a:latin typeface="Arial"/>
              </a:rPr>
              <a:t>Moat: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per-role packages, fine-tunes, and benchmarks accumulate; they can't be ported.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06"/>
                </a:solidFill>
                <a:latin typeface="Arial"/>
              </a:rPr>
              <a:t>Next: sign off D9 → Phase 1.5 kickoff (Tool Registry + package foundation).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